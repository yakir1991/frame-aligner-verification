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2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933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F2933"/>
                </a:solidFill>
                <a:latin typeface="Calibri"/>
              </a:rPr>
              <a:t>Assertion failures on the delivered RTL (corrected RTL: 0)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failures</c:v>
                </c:pt>
              </c:strCache>
            </c:strRef>
          </c:tx>
          <c:spPr>
            <a:solidFill>
              <a:srgbClr val="C2410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SPEC_POS1_AFTER_HEADER</c:v>
                  </c:pt>
                  <c:pt idx="1">
                    <c:v>SPEC_POS_INCREMENT</c:v>
                  </c:pt>
                  <c:pt idx="2">
                    <c:v>SPEC_SYNC_AFTER_3_FRAMES</c:v>
                  </c:pt>
                  <c:pt idx="3">
                    <c:v>SPEC_FD_FALL_AFTER_48</c:v>
                  </c:pt>
                  <c:pt idx="4">
                    <c:v>SPEC_FD_FALL_WHILE_HUNTING</c:v>
                  </c:pt>
                  <c:pt idx="5">
                    <c:v>WB_DUT01_NO_LOST_LSB</c:v>
                  </c:pt>
                  <c:pt idx="6">
                    <c:v>WB_DUT02_NO_CLEAR_IN_FRAME</c:v>
                  </c:pt>
                  <c:pt idx="7">
                    <c:v>WB_DUT03_POS_RESET_ON_REJECT</c:v>
                  </c:pt>
                  <c:pt idx="8">
                    <c:v>WB_DUT04_LEGAL_NO_WRAP</c:v>
                  </c:pt>
                  <c:pt idx="9">
                    <c:v>WB_DUT05_NA_NO_WRAP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252</c:v>
                </c:pt>
                <c:pt idx="1">
                  <c:v>251</c:v>
                </c:pt>
                <c:pt idx="2">
                  <c:v>24</c:v>
                </c:pt>
                <c:pt idx="3">
                  <c:v>28</c:v>
                </c:pt>
                <c:pt idx="4">
                  <c:v>6</c:v>
                </c:pt>
                <c:pt idx="5">
                  <c:v>149</c:v>
                </c:pt>
                <c:pt idx="6">
                  <c:v>3</c:v>
                </c:pt>
                <c:pt idx="7">
                  <c:v>252</c:v>
                </c:pt>
                <c:pt idx="8">
                  <c:v>32</c:v>
                </c:pt>
                <c:pt idx="9">
                  <c:v>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29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F2933"/>
                </a:solidFill>
                <a:latin typeface="Courier New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933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F2933"/>
                </a:solidFill>
                <a:latin typeface="Calibri"/>
              </a:rPr>
              <a:t>Spec violations attributed per defect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delivered RTL</c:v>
                </c:pt>
              </c:strCache>
            </c:strRef>
          </c:tx>
          <c:spPr>
            <a:solidFill>
              <a:srgbClr val="C2410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DUT-01</c:v>
                  </c:pt>
                  <c:pt idx="1">
                    <c:v>DUT-02</c:v>
                  </c:pt>
                  <c:pt idx="2">
                    <c:v>DUT-03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149</c:v>
                </c:pt>
                <c:pt idx="1">
                  <c:v>3</c:v>
                </c:pt>
                <c:pt idx="2">
                  <c:v>252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corrected RTL</c:v>
                </c:pt>
              </c:strCache>
            </c:strRef>
          </c:tx>
          <c:spPr>
            <a:solidFill>
              <a:srgbClr val="1D4E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DUT-01</c:v>
                  </c:pt>
                  <c:pt idx="1">
                    <c:v>DUT-02</c:v>
                  </c:pt>
                  <c:pt idx="2">
                    <c:v>DUT-03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Revised edition of the verification plan. The environment was rebuilt around an independent specification model; the delivered RTL is unchanged and was re-verified.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66928" cy="420624"/>
          </a:xfrm>
          <a:prstGeom prst="roundRect">
            <a:avLst>
              <a:gd name="adj" fmla="val 13043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640080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E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207008" y="640080"/>
            <a:ext cx="566928" cy="420624"/>
          </a:xfrm>
          <a:prstGeom prst="roundRect">
            <a:avLst>
              <a:gd name="adj" fmla="val 13043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07008" y="640080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E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65376" y="640080"/>
            <a:ext cx="566928" cy="420624"/>
          </a:xfrm>
          <a:prstGeom prst="roundRect">
            <a:avLst>
              <a:gd name="adj" fmla="val 13043"/>
            </a:avLst>
          </a:prstGeom>
          <a:solidFill>
            <a:srgbClr val="16304F"/>
          </a:solidFill>
          <a:ln w="12700">
            <a:solidFill>
              <a:srgbClr val="2345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865376" y="640080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23744" y="640080"/>
            <a:ext cx="566928" cy="420624"/>
          </a:xfrm>
          <a:prstGeom prst="roundRect">
            <a:avLst>
              <a:gd name="adj" fmla="val 13043"/>
            </a:avLst>
          </a:prstGeom>
          <a:solidFill>
            <a:srgbClr val="16304F"/>
          </a:solidFill>
          <a:ln w="12700">
            <a:solidFill>
              <a:srgbClr val="23456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23744" y="640080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182112" y="640080"/>
            <a:ext cx="566928" cy="420624"/>
          </a:xfrm>
          <a:prstGeom prst="roundRect">
            <a:avLst>
              <a:gd name="adj" fmla="val 13043"/>
            </a:avLst>
          </a:prstGeom>
          <a:solidFill>
            <a:srgbClr val="16304F"/>
          </a:solidFill>
          <a:ln w="12700">
            <a:solidFill>
              <a:srgbClr val="2345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182112" y="640080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40480" y="640080"/>
            <a:ext cx="566928" cy="420624"/>
          </a:xfrm>
          <a:prstGeom prst="roundRect">
            <a:avLst>
              <a:gd name="adj" fmla="val 13043"/>
            </a:avLst>
          </a:prstGeom>
          <a:solidFill>
            <a:srgbClr val="16304F"/>
          </a:solidFill>
          <a:ln w="12700">
            <a:solidFill>
              <a:srgbClr val="23456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840480" y="640080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98848" y="640080"/>
            <a:ext cx="566928" cy="420624"/>
          </a:xfrm>
          <a:prstGeom prst="roundRect">
            <a:avLst>
              <a:gd name="adj" fmla="val 13043"/>
            </a:avLst>
          </a:prstGeom>
          <a:solidFill>
            <a:srgbClr val="16304F"/>
          </a:solidFill>
          <a:ln w="12700">
            <a:solidFill>
              <a:srgbClr val="23456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98848" y="640080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66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157216" y="640080"/>
            <a:ext cx="566928" cy="420624"/>
          </a:xfrm>
          <a:prstGeom prst="roundRect">
            <a:avLst>
              <a:gd name="adj" fmla="val 13043"/>
            </a:avLst>
          </a:prstGeom>
          <a:solidFill>
            <a:srgbClr val="16304F"/>
          </a:solidFill>
          <a:ln w="12700">
            <a:solidFill>
              <a:srgbClr val="23456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57216" y="640080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815584" y="640080"/>
            <a:ext cx="566928" cy="420624"/>
          </a:xfrm>
          <a:prstGeom prst="roundRect">
            <a:avLst>
              <a:gd name="adj" fmla="val 13043"/>
            </a:avLst>
          </a:prstGeom>
          <a:solidFill>
            <a:srgbClr val="16304F"/>
          </a:solidFill>
          <a:ln w="12700">
            <a:solidFill>
              <a:srgbClr val="23456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815584" y="640080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88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73952" y="640080"/>
            <a:ext cx="566928" cy="420624"/>
          </a:xfrm>
          <a:prstGeom prst="roundRect">
            <a:avLst>
              <a:gd name="adj" fmla="val 13043"/>
            </a:avLst>
          </a:prstGeom>
          <a:solidFill>
            <a:srgbClr val="16304F"/>
          </a:solidFill>
          <a:ln w="12700">
            <a:solidFill>
              <a:srgbClr val="23456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73952" y="640080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132320" y="640080"/>
            <a:ext cx="566928" cy="420624"/>
          </a:xfrm>
          <a:prstGeom prst="roundRect">
            <a:avLst>
              <a:gd name="adj" fmla="val 13043"/>
            </a:avLst>
          </a:prstGeom>
          <a:solidFill>
            <a:srgbClr val="16304F"/>
          </a:solidFill>
          <a:ln w="12700">
            <a:solidFill>
              <a:srgbClr val="23456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132320" y="640080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790688" y="640080"/>
            <a:ext cx="566928" cy="420624"/>
          </a:xfrm>
          <a:prstGeom prst="roundRect">
            <a:avLst>
              <a:gd name="adj" fmla="val 13043"/>
            </a:avLst>
          </a:prstGeom>
          <a:solidFill>
            <a:srgbClr val="16304F"/>
          </a:solidFill>
          <a:ln w="12700">
            <a:solidFill>
              <a:srgbClr val="23456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90688" y="640080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449056" y="640080"/>
            <a:ext cx="566928" cy="420624"/>
          </a:xfrm>
          <a:prstGeom prst="roundRect">
            <a:avLst>
              <a:gd name="adj" fmla="val 13043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449056" y="640080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E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107424" y="640080"/>
            <a:ext cx="566928" cy="420624"/>
          </a:xfrm>
          <a:prstGeom prst="roundRect">
            <a:avLst>
              <a:gd name="adj" fmla="val 13043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107424" y="640080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E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20116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 Aligner Verification</a:t>
            </a:r>
            <a:endParaRPr lang="en-US" sz="50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3063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Specification-driven verification of a byte-stream frame aligner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548640" y="4069080"/>
            <a:ext cx="3520440" cy="566928"/>
          </a:xfrm>
          <a:prstGeom prst="roundRect">
            <a:avLst>
              <a:gd name="adj" fmla="val 16129"/>
            </a:avLst>
          </a:prstGeom>
          <a:solidFill>
            <a:srgbClr val="16304F"/>
          </a:solidFill>
          <a:ln w="12700">
            <a:solidFill>
              <a:srgbClr val="23456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5800" y="406908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DUT defects, 3 critical / high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297680" y="4069080"/>
            <a:ext cx="3520440" cy="566928"/>
          </a:xfrm>
          <a:prstGeom prst="roundRect">
            <a:avLst>
              <a:gd name="adj" fmla="val 16129"/>
            </a:avLst>
          </a:prstGeom>
          <a:solidFill>
            <a:srgbClr val="16304F"/>
          </a:solidFill>
          <a:ln w="12700">
            <a:solidFill>
              <a:srgbClr val="23456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434840" y="406908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RTL: 0 spec violations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046720" y="4069080"/>
            <a:ext cx="3520440" cy="566928"/>
          </a:xfrm>
          <a:prstGeom prst="roundRect">
            <a:avLst>
              <a:gd name="adj" fmla="val 16129"/>
            </a:avLst>
          </a:prstGeom>
          <a:solidFill>
            <a:srgbClr val="16304F"/>
          </a:solidFill>
          <a:ln w="12700">
            <a:solidFill>
              <a:srgbClr val="23456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183880" y="406908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 functional coverage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Yakir Aqua   ·   Verification plan, results and bug report   ·   revised edition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0B1E33"/>
          </a:solidFill>
          <a:ln w="12700">
            <a:solidFill>
              <a:srgbClr val="0B1E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0x01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329184"/>
            <a:ext cx="100885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at a glance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Aligner Verification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8745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8803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 defects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33756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critical / high; DUT-02 and DUT-03 had been filed as "spec gaps"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64992" y="169164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93592" y="18745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400" dirty="0"/>
          </a:p>
        </p:txBody>
      </p:sp>
      <p:sp>
        <p:nvSpPr>
          <p:cNvPr id="13" name="Text 11"/>
          <p:cNvSpPr txBox="1"/>
          <p:nvPr/>
        </p:nvSpPr>
        <p:spPr>
          <a:xfrm>
            <a:off x="3593592" y="28803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unexplained mismatches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593592" y="333756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255 spec violations on the delivered RTL is attributed to a known defect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81344" y="169164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9944" y="18745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100 %</a:t>
            </a:r>
            <a:endParaRPr lang="en-US" sz="5400" dirty="0"/>
          </a:p>
        </p:txBody>
      </p:sp>
      <p:sp>
        <p:nvSpPr>
          <p:cNvPr id="17" name="Text 15"/>
          <p:cNvSpPr txBox="1"/>
          <p:nvPr/>
        </p:nvSpPr>
        <p:spPr>
          <a:xfrm>
            <a:off x="6409944" y="28803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coverage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409944" y="333756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spec-feature coverpoints, every cover property hit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997696" y="169164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226296" y="18745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345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910 k</a:t>
            </a:r>
            <a:endParaRPr lang="en-US" sz="5400" dirty="0"/>
          </a:p>
        </p:txBody>
      </p:sp>
      <p:sp>
        <p:nvSpPr>
          <p:cNvPr id="21" name="Text 19"/>
          <p:cNvSpPr txBox="1"/>
          <p:nvPr/>
        </p:nvSpPr>
        <p:spPr>
          <a:xfrm>
            <a:off x="9226296" y="28803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fuzzed cycles cross-checked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9226296" y="333756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RTL = 3 independent spec models, 0 differences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98348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0B1E33"/>
          </a:solidFill>
          <a:ln w="12700">
            <a:solidFill>
              <a:srgbClr val="0B1E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502920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RTL: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FAILED, 255 spec violations and 214 of 3,555 test-plan checkpoints failed, 0 unexplained.   </a:t>
            </a:r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RTL: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PASSED, 0 violations, all checkpoints, 0 assertion failures.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0B1E33"/>
          </a:solidFill>
          <a:ln w="12700">
            <a:solidFill>
              <a:srgbClr val="0B1E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0x02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329184"/>
            <a:ext cx="100885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design under test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005840"/>
            <a:ext cx="100885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byte per clock; a frame is a 16-bit header (LSB first) and 10 payload bytes, back to back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Aligner Verification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45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format and fr_byte_position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493776" cy="457200"/>
          </a:xfrm>
          <a:prstGeom prst="roundRect">
            <a:avLst>
              <a:gd name="adj" fmla="val 12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10312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606040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97280" y="2103120"/>
            <a:ext cx="493776" cy="457200"/>
          </a:xfrm>
          <a:prstGeom prst="roundRect">
            <a:avLst>
              <a:gd name="adj" fmla="val 12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97280" y="210312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2606040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645920" y="2103120"/>
            <a:ext cx="493776" cy="457200"/>
          </a:xfrm>
          <a:prstGeom prst="roundRect">
            <a:avLst>
              <a:gd name="adj" fmla="val 12000"/>
            </a:avLst>
          </a:prstGeom>
          <a:solidFill>
            <a:srgbClr val="F1F4F8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645920" y="210312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P0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2606040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194560" y="2103120"/>
            <a:ext cx="493776" cy="457200"/>
          </a:xfrm>
          <a:prstGeom prst="roundRect">
            <a:avLst>
              <a:gd name="adj" fmla="val 12000"/>
            </a:avLst>
          </a:prstGeom>
          <a:solidFill>
            <a:srgbClr val="F1F4F8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194560" y="210312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P1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2194560" y="2606040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0" y="2103120"/>
            <a:ext cx="493776" cy="457200"/>
          </a:xfrm>
          <a:prstGeom prst="roundRect">
            <a:avLst>
              <a:gd name="adj" fmla="val 12000"/>
            </a:avLst>
          </a:prstGeom>
          <a:solidFill>
            <a:srgbClr val="F1F4F8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743200" y="210312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P2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2743200" y="2606040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91840" y="2103120"/>
            <a:ext cx="493776" cy="457200"/>
          </a:xfrm>
          <a:prstGeom prst="roundRect">
            <a:avLst>
              <a:gd name="adj" fmla="val 12000"/>
            </a:avLst>
          </a:prstGeom>
          <a:solidFill>
            <a:srgbClr val="F1F4F8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291840" y="210312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P3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291840" y="2606040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840480" y="2103120"/>
            <a:ext cx="493776" cy="457200"/>
          </a:xfrm>
          <a:prstGeom prst="roundRect">
            <a:avLst>
              <a:gd name="adj" fmla="val 12000"/>
            </a:avLst>
          </a:prstGeom>
          <a:solidFill>
            <a:srgbClr val="F1F4F8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840480" y="210312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P4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3840480" y="2606040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389120" y="2103120"/>
            <a:ext cx="493776" cy="457200"/>
          </a:xfrm>
          <a:prstGeom prst="roundRect">
            <a:avLst>
              <a:gd name="adj" fmla="val 12000"/>
            </a:avLst>
          </a:prstGeom>
          <a:solidFill>
            <a:srgbClr val="F1F4F8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389120" y="210312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P5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389120" y="2606040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937760" y="2103120"/>
            <a:ext cx="493776" cy="457200"/>
          </a:xfrm>
          <a:prstGeom prst="roundRect">
            <a:avLst>
              <a:gd name="adj" fmla="val 12000"/>
            </a:avLst>
          </a:prstGeom>
          <a:solidFill>
            <a:srgbClr val="F1F4F8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937760" y="210312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P6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4937760" y="2606040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0" y="2103120"/>
            <a:ext cx="493776" cy="457200"/>
          </a:xfrm>
          <a:prstGeom prst="roundRect">
            <a:avLst>
              <a:gd name="adj" fmla="val 12000"/>
            </a:avLst>
          </a:prstGeom>
          <a:solidFill>
            <a:srgbClr val="F1F4F8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486400" y="210312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P7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0" y="2606040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035040" y="2103120"/>
            <a:ext cx="493776" cy="457200"/>
          </a:xfrm>
          <a:prstGeom prst="roundRect">
            <a:avLst>
              <a:gd name="adj" fmla="val 12000"/>
            </a:avLst>
          </a:prstGeom>
          <a:solidFill>
            <a:srgbClr val="F1F4F8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035040" y="210312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P8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6035040" y="2606040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583680" y="2103120"/>
            <a:ext cx="493776" cy="457200"/>
          </a:xfrm>
          <a:prstGeom prst="roundRect">
            <a:avLst>
              <a:gd name="adj" fmla="val 12000"/>
            </a:avLst>
          </a:prstGeom>
          <a:solidFill>
            <a:srgbClr val="F1F4F8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583680" y="210312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P9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6583680" y="2606040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30175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HEAD_1 = 0xAFAA  (AA then AF)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HEAD_2 = 0xBA55  (55 then BA)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548640" y="3886200"/>
            <a:ext cx="6400800" cy="658368"/>
          </a:xfrm>
          <a:prstGeom prst="roundRect">
            <a:avLst>
              <a:gd name="adj" fmla="val 11111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31520" y="3886200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</a:t>
            </a:r>
            <a:endParaRPr lang="en-US" sz="1600" dirty="0"/>
          </a:p>
        </p:txBody>
      </p:sp>
      <p:sp>
        <p:nvSpPr>
          <p:cNvPr id="48" name="Text 46"/>
          <p:cNvSpPr txBox="1"/>
          <p:nvPr/>
        </p:nvSpPr>
        <p:spPr>
          <a:xfrm>
            <a:off x="1737360" y="388620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3 consecutive frames with a correct header: frame_detect = 1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548640" y="4663440"/>
            <a:ext cx="6400800" cy="658368"/>
          </a:xfrm>
          <a:prstGeom prst="roundRect">
            <a:avLst>
              <a:gd name="adj" fmla="val 11111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31520" y="4663440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Lose</a:t>
            </a:r>
            <a:endParaRPr lang="en-US" sz="1600" dirty="0"/>
          </a:p>
        </p:txBody>
      </p:sp>
      <p:sp>
        <p:nvSpPr>
          <p:cNvPr id="51" name="Text 49"/>
          <p:cNvSpPr txBox="1"/>
          <p:nvPr/>
        </p:nvSpPr>
        <p:spPr>
          <a:xfrm>
            <a:off x="1737360" y="466344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4 frames without a header (48 header-less bytes): frame_detect = 0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548640" y="5440680"/>
            <a:ext cx="6400800" cy="658368"/>
          </a:xfrm>
          <a:prstGeom prst="roundRect">
            <a:avLst>
              <a:gd name="adj" fmla="val 11111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31520" y="5440680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</a:t>
            </a:r>
            <a:endParaRPr lang="en-US" sz="1600" dirty="0"/>
          </a:p>
        </p:txBody>
      </p:sp>
      <p:sp>
        <p:nvSpPr>
          <p:cNvPr id="54" name="Text 52"/>
          <p:cNvSpPr txBox="1"/>
          <p:nvPr/>
        </p:nvSpPr>
        <p:spPr>
          <a:xfrm>
            <a:off x="1737360" y="544068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fr_byte_position = index 0..11 of the last byte (registered output)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7315200" y="2926080"/>
            <a:ext cx="1188720" cy="91440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 w="15875">
            <a:solidFill>
              <a:srgbClr val="5B6B7F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7388352" y="2926080"/>
            <a:ext cx="1042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 RX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8961120" y="1691640"/>
            <a:ext cx="2743200" cy="3931920"/>
          </a:xfrm>
          <a:prstGeom prst="roundRect">
            <a:avLst>
              <a:gd name="adj" fmla="val 3333"/>
            </a:avLst>
          </a:prstGeom>
          <a:solidFill>
            <a:srgbClr val="0B1E33"/>
          </a:solidFill>
          <a:ln w="12700">
            <a:solidFill>
              <a:srgbClr val="0B1E33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8961120" y="1783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A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frame_aligner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9189720" y="2286000"/>
            <a:ext cx="1097280" cy="438912"/>
          </a:xfrm>
          <a:prstGeom prst="roundRect">
            <a:avLst>
              <a:gd name="adj" fmla="val 12500"/>
            </a:avLst>
          </a:prstGeom>
          <a:solidFill>
            <a:srgbClr val="16304F"/>
          </a:solidFill>
          <a:ln w="12700">
            <a:solidFill>
              <a:srgbClr val="23456E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9189720" y="228600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FR_IDLE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10378440" y="2286000"/>
            <a:ext cx="1097280" cy="438912"/>
          </a:xfrm>
          <a:prstGeom prst="roundRect">
            <a:avLst>
              <a:gd name="adj" fmla="val 12500"/>
            </a:avLst>
          </a:prstGeom>
          <a:solidFill>
            <a:srgbClr val="16304F"/>
          </a:solidFill>
          <a:ln w="12700">
            <a:solidFill>
              <a:srgbClr val="23456E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10378440" y="228600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FR_HLSB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9189720" y="2852928"/>
            <a:ext cx="1097280" cy="438912"/>
          </a:xfrm>
          <a:prstGeom prst="roundRect">
            <a:avLst>
              <a:gd name="adj" fmla="val 12500"/>
            </a:avLst>
          </a:prstGeom>
          <a:solidFill>
            <a:srgbClr val="16304F"/>
          </a:solidFill>
          <a:ln w="12700">
            <a:solidFill>
              <a:srgbClr val="23456E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9189720" y="2852928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FR_HMSB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10378440" y="2852928"/>
            <a:ext cx="1097280" cy="438912"/>
          </a:xfrm>
          <a:prstGeom prst="roundRect">
            <a:avLst>
              <a:gd name="adj" fmla="val 12500"/>
            </a:avLst>
          </a:prstGeom>
          <a:solidFill>
            <a:srgbClr val="16304F"/>
          </a:solidFill>
          <a:ln w="12700">
            <a:solidFill>
              <a:srgbClr val="23456E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10378440" y="2852928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FR_DATA</a:t>
            </a:r>
            <a:endParaRPr lang="en-US" sz="1100" dirty="0"/>
          </a:p>
        </p:txBody>
      </p:sp>
      <p:sp>
        <p:nvSpPr>
          <p:cNvPr id="67" name="Text 65"/>
          <p:cNvSpPr txBox="1"/>
          <p:nvPr/>
        </p:nvSpPr>
        <p:spPr>
          <a:xfrm>
            <a:off x="9144000" y="35661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legal_frame_counter[1:0]</a:t>
            </a:r>
            <a:endParaRPr lang="en-US" sz="1100" dirty="0"/>
          </a:p>
        </p:txBody>
      </p:sp>
      <p:sp>
        <p:nvSpPr>
          <p:cNvPr id="68" name="Text 66"/>
          <p:cNvSpPr txBox="1"/>
          <p:nvPr/>
        </p:nvSpPr>
        <p:spPr>
          <a:xfrm>
            <a:off x="9144000" y="395020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na_byte_counter[5:0]</a:t>
            </a:r>
            <a:endParaRPr lang="en-US" sz="1100" dirty="0"/>
          </a:p>
        </p:txBody>
      </p:sp>
      <p:sp>
        <p:nvSpPr>
          <p:cNvPr id="69" name="Text 67"/>
          <p:cNvSpPr txBox="1"/>
          <p:nvPr/>
        </p:nvSpPr>
        <p:spPr>
          <a:xfrm>
            <a:off x="9144000" y="433425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header_lsb_samp[7:0]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8503920" y="3383280"/>
            <a:ext cx="457200" cy="914"/>
          </a:xfrm>
          <a:prstGeom prst="line">
            <a:avLst/>
          </a:prstGeom>
          <a:noFill/>
          <a:ln w="22225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71" name="Text 69"/>
          <p:cNvSpPr txBox="1"/>
          <p:nvPr/>
        </p:nvSpPr>
        <p:spPr>
          <a:xfrm>
            <a:off x="7315200" y="3931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rx_data[7:0]</a:t>
            </a:r>
            <a:endParaRPr lang="en-US" sz="1000" dirty="0"/>
          </a:p>
        </p:txBody>
      </p:sp>
      <p:sp>
        <p:nvSpPr>
          <p:cNvPr id="72" name="Text 70"/>
          <p:cNvSpPr txBox="1"/>
          <p:nvPr/>
        </p:nvSpPr>
        <p:spPr>
          <a:xfrm>
            <a:off x="8961120" y="56692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frame_detect   fr_byte_position[3:0]</a:t>
            </a:r>
            <a:endParaRPr lang="en-US" sz="1000" dirty="0"/>
          </a:p>
        </p:txBody>
      </p:sp>
      <p:sp>
        <p:nvSpPr>
          <p:cNvPr id="73" name="Text 71"/>
          <p:cNvSpPr txBox="1"/>
          <p:nvPr/>
        </p:nvSpPr>
        <p:spPr>
          <a:xfrm>
            <a:off x="8961120" y="1325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clk, reset (async)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0B1E33"/>
          </a:solidFill>
          <a:ln w="12700">
            <a:solidFill>
              <a:srgbClr val="0B1E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0x03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329184"/>
            <a:ext cx="100885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the specification to seven checkable rules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005840"/>
            <a:ext cx="100885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text, the design slides and the RTL disagree in places; the verification fixes one interpretation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Aligner Verification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874520"/>
            <a:ext cx="566928" cy="45720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187452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1673352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= LSB immediately followed by its MSB: AA AF or 55 BA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27685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p.3, p.5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160020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55080" y="1874520"/>
            <a:ext cx="566928" cy="45720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55080" y="187452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086600" y="1673352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hunting, every byte is examined; a wrong MSB that is itself an LSB starts a new candidate. No header in the stream is missed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7086600" y="227685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p.3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274320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3017520"/>
            <a:ext cx="566928" cy="45720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301752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2816352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header the next 10 bytes are payload and are not examined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341985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slides (FSM)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72200" y="274320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55080" y="3017520"/>
            <a:ext cx="566928" cy="45720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55080" y="301752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R4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086600" y="2816352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frame_detect rises one byte after the 3rd consecutive header (payload byte 0)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7086600" y="341985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p.6, waveform 1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388620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" y="4160520"/>
            <a:ext cx="566928" cy="45720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31520" y="416052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R5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463040" y="3959352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frame_detect falls on the 48th consecutive byte that is not part of a validated header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1463040" y="456285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p.6, register table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72200" y="388620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55080" y="4160520"/>
            <a:ext cx="566928" cy="45720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355080" y="416052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R6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7086600" y="3959352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fr_byte_position = index of the byte just consumed (0..11); 0 while hunting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7086600" y="456285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table, waveform 1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8640" y="502920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31520" y="5303520"/>
            <a:ext cx="566928" cy="45720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31520" y="5303520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R7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1463040" y="5102352"/>
            <a:ext cx="4389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 reset: outputs 0, hunting restarts</a:t>
            </a:r>
            <a:endParaRPr lang="en-US" sz="1350" dirty="0"/>
          </a:p>
        </p:txBody>
      </p:sp>
      <p:sp>
        <p:nvSpPr>
          <p:cNvPr id="42" name="Text 40"/>
          <p:cNvSpPr txBox="1"/>
          <p:nvPr/>
        </p:nvSpPr>
        <p:spPr>
          <a:xfrm>
            <a:off x="1463040" y="570585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table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172200" y="502920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FDF1CC"/>
          </a:solidFill>
          <a:ln w="12700">
            <a:solidFill>
              <a:srgbClr val="FDF1CC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400800" y="5102352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three times, independently: </a:t>
            </a:r>
            <a:pPr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 reference model, a causal Python model and an offline frame parser. They agree on every cycle.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0B1E33"/>
          </a:solidFill>
          <a:ln w="12700">
            <a:solidFill>
              <a:srgbClr val="0B1E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0x04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329184"/>
            <a:ext cx="100885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environment was rebuilt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005840"/>
            <a:ext cx="100885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bench could not fail: its model was a copy of the RTL, and mismatches were fixed in the scoreboard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Aligner Verification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4572000"/>
                <a:gridCol w="45720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 environment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environment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 of the RTL (and even that one byte early)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 rules R1-R7, cross-checked by two Python models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FE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Mismatch policy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"correct the scoreboard"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 to a known defect, or flag as UNEXPLAINED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FE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outcomes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checked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3,555 checkpoints at exact byte positions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FE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Stimulus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bytes; 117 of 917 items never driven; preconditions shuffled away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2-state; everything driven; every scenario starts from reset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FE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program-block dependent; reset released on a clock edge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clocking blocks; reset on the falling edge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FE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Assertions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of 3 vacuous or false; failures not counted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rule-based assertions, counted; non-vacuity proven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FE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reachable illegal bins, unreachable bins, no spec features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spec-feature coverpoints, closed at 100 %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F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0B1E33"/>
          </a:solidFill>
          <a:ln w="12700">
            <a:solidFill>
              <a:srgbClr val="0B1E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329184"/>
            <a:ext cx="100885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 architecture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005840"/>
            <a:ext cx="100885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Class-based SystemVerilog, race-free clocking blocks, assertions bound into the DUT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Aligner Verification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1F4F8"/>
          </a:solidFill>
          <a:ln w="15875">
            <a:solidFill>
              <a:srgbClr val="23456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1828800"/>
            <a:ext cx="18653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+ 27 scenarios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0" y="182880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F1F4F8"/>
          </a:solidFill>
          <a:ln w="15875">
            <a:solidFill>
              <a:srgbClr val="2345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73552" y="1828800"/>
            <a:ext cx="1408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0" y="1691640"/>
            <a:ext cx="2286000" cy="1280160"/>
          </a:xfrm>
          <a:prstGeom prst="roundRect">
            <a:avLst>
              <a:gd name="adj" fmla="val 5714"/>
            </a:avLst>
          </a:prstGeom>
          <a:solidFill>
            <a:srgbClr val="0B1E33"/>
          </a:solidFill>
          <a:ln w="15875">
            <a:solidFill>
              <a:srgbClr val="0B1E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16752" y="1691640"/>
            <a:ext cx="21396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frame_aligner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760720" y="30175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34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fa_spec_sva (14)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34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fa_whitebox_sva (11)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418320" y="1828800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F1F4F8"/>
          </a:solidFill>
          <a:ln w="15875">
            <a:solidFill>
              <a:srgbClr val="23456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491472" y="1828800"/>
            <a:ext cx="20482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monitor_in /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monitor_out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60320" y="2331720"/>
            <a:ext cx="640080" cy="914"/>
          </a:xfrm>
          <a:prstGeom prst="line">
            <a:avLst/>
          </a:prstGeom>
          <a:noFill/>
          <a:ln w="22225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754880" y="2331720"/>
            <a:ext cx="1188720" cy="914"/>
          </a:xfrm>
          <a:prstGeom prst="line">
            <a:avLst/>
          </a:prstGeom>
          <a:noFill/>
          <a:ln w="22225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229600" y="2331720"/>
            <a:ext cx="1188720" cy="914"/>
          </a:xfrm>
          <a:prstGeom prst="line">
            <a:avLst/>
          </a:prstGeom>
          <a:noFill/>
          <a:ln w="22225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4800600" y="1783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drv_cb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(+1 ns)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1783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mon_cb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(#1step)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023360" y="3931920"/>
            <a:ext cx="7589520" cy="2148840"/>
          </a:xfrm>
          <a:prstGeom prst="roundRect">
            <a:avLst>
              <a:gd name="adj" fmla="val 4255"/>
            </a:avLst>
          </a:prstGeom>
          <a:solidFill>
            <a:srgbClr val="0B1E33"/>
          </a:solidFill>
          <a:ln w="12700">
            <a:solidFill>
              <a:srgbClr val="0B1E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206240" y="40050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scoreboard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06240" y="4480560"/>
            <a:ext cx="1737360" cy="1371600"/>
          </a:xfrm>
          <a:prstGeom prst="roundRect">
            <a:avLst>
              <a:gd name="adj" fmla="val 5333"/>
            </a:avLst>
          </a:prstGeom>
          <a:solidFill>
            <a:srgbClr val="16304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206240" y="45720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model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206240" y="50292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R1-R7, knobs off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062472" y="4480560"/>
            <a:ext cx="1737360" cy="1371600"/>
          </a:xfrm>
          <a:prstGeom prst="roundRect">
            <a:avLst>
              <a:gd name="adj" fmla="val 5333"/>
            </a:avLst>
          </a:prstGeom>
          <a:solidFill>
            <a:srgbClr val="16304F"/>
          </a:solidFill>
          <a:ln w="19050">
            <a:solidFill>
              <a:srgbClr val="C2410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062472" y="45720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 model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062472" y="50292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defects 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918704" y="4480560"/>
            <a:ext cx="1737360" cy="1371600"/>
          </a:xfrm>
          <a:prstGeom prst="roundRect">
            <a:avLst>
              <a:gd name="adj" fmla="val 5333"/>
            </a:avLst>
          </a:prstGeom>
          <a:solidFill>
            <a:srgbClr val="16304F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918704" y="45720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918704" y="50292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test-plan outcomes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774936" y="4480560"/>
            <a:ext cx="1737360" cy="1371600"/>
          </a:xfrm>
          <a:prstGeom prst="roundRect">
            <a:avLst>
              <a:gd name="adj" fmla="val 5333"/>
            </a:avLst>
          </a:prstGeom>
          <a:solidFill>
            <a:srgbClr val="16304F"/>
          </a:solidFill>
          <a:ln w="19050">
            <a:solidFill>
              <a:srgbClr val="23456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774936" y="45720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9774936" y="50292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coverpoints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0515600" y="2834640"/>
            <a:ext cx="914" cy="1097280"/>
          </a:xfrm>
          <a:prstGeom prst="line">
            <a:avLst/>
          </a:prstGeom>
          <a:noFill/>
          <a:ln w="22225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1554480" y="2834640"/>
            <a:ext cx="914" cy="2148840"/>
          </a:xfrm>
          <a:prstGeom prst="line">
            <a:avLst/>
          </a:prstGeom>
          <a:noFill/>
          <a:ln w="22225">
            <a:solidFill>
              <a:srgbClr val="5B6B7F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1554480" y="4983480"/>
            <a:ext cx="2468880" cy="914"/>
          </a:xfrm>
          <a:prstGeom prst="line">
            <a:avLst/>
          </a:prstGeom>
          <a:noFill/>
          <a:ln w="22225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39" name="Text 37"/>
          <p:cNvSpPr txBox="1"/>
          <p:nvPr/>
        </p:nvSpPr>
        <p:spPr>
          <a:xfrm>
            <a:off x="1783080" y="4617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checkpoints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55321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are numbered sample by sample; the scoreboard proves lock-step and compares outputs(k) with the model after byte k-1.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0B1E33"/>
          </a:solidFill>
          <a:ln w="12700">
            <a:solidFill>
              <a:srgbClr val="0B1E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0x06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329184"/>
            <a:ext cx="100885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mismatch is triaged, not "fixed"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005840"/>
            <a:ext cx="100885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instances of the same specification model: one pure, one with the delivered design's defects switched 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Aligner Verification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377440" cy="1097280"/>
          </a:xfrm>
          <a:prstGeom prst="roundRect">
            <a:avLst>
              <a:gd name="adj" fmla="val 6667"/>
            </a:avLst>
          </a:prstGeom>
          <a:solidFill>
            <a:srgbClr val="F1F4F8"/>
          </a:solidFill>
          <a:ln w="15875">
            <a:solidFill>
              <a:srgbClr val="23456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2834640"/>
            <a:ext cx="22311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 outputs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cycle 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0" y="2834640"/>
            <a:ext cx="23774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30752" y="2834640"/>
            <a:ext cx="22311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to the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model?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766560" y="2834640"/>
            <a:ext cx="23774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C2410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39712" y="2834640"/>
            <a:ext cx="22311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to the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 model?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926080" y="3383280"/>
            <a:ext cx="731520" cy="914"/>
          </a:xfrm>
          <a:prstGeom prst="line">
            <a:avLst/>
          </a:prstGeom>
          <a:noFill/>
          <a:ln w="22225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035040" y="3383280"/>
            <a:ext cx="731520" cy="914"/>
          </a:xfrm>
          <a:prstGeom prst="line">
            <a:avLst/>
          </a:prstGeom>
          <a:noFill/>
          <a:ln w="22225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6126480" y="3017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</a:rPr>
              <a:t>no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0" y="160020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D5EFEC"/>
          </a:solidFill>
          <a:ln w="15875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730752" y="1600200"/>
            <a:ext cx="223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 flipV="1">
            <a:off x="4846320" y="2377440"/>
            <a:ext cx="914" cy="457200"/>
          </a:xfrm>
          <a:prstGeom prst="line">
            <a:avLst/>
          </a:prstGeom>
          <a:noFill/>
          <a:ln w="22225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4937760" y="2468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</a:rPr>
              <a:t>yes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784080" y="1600200"/>
            <a:ext cx="1828800" cy="1325880"/>
          </a:xfrm>
          <a:prstGeom prst="roundRect">
            <a:avLst>
              <a:gd name="adj" fmla="val 5517"/>
            </a:avLst>
          </a:prstGeom>
          <a:solidFill>
            <a:srgbClr val="FDF1CC"/>
          </a:solidFill>
          <a:ln w="15875">
            <a:solidFill>
              <a:srgbClr val="F2A90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857232" y="1600200"/>
            <a:ext cx="16824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DEFECT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attributed to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DUT-0x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 flipV="1">
            <a:off x="9144000" y="2377440"/>
            <a:ext cx="640080" cy="731520"/>
          </a:xfrm>
          <a:prstGeom prst="line">
            <a:avLst/>
          </a:prstGeom>
          <a:noFill/>
          <a:ln w="22225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9189720" y="23774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</a:rPr>
              <a:t>yes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784080" y="3749040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FBE4D8"/>
          </a:solidFill>
          <a:ln w="15875">
            <a:solidFill>
              <a:srgbClr val="C2410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857232" y="3749040"/>
            <a:ext cx="16824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UNEXPLAINED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problem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144000" y="3657600"/>
            <a:ext cx="640080" cy="548640"/>
          </a:xfrm>
          <a:prstGeom prst="line">
            <a:avLst/>
          </a:prstGeom>
          <a:noFill/>
          <a:ln w="22225">
            <a:solidFill>
              <a:srgbClr val="5B6B7F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9235440" y="4069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</a:rPr>
              <a:t>no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4572000"/>
            <a:ext cx="8961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defect: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knob that fired in the DUT model names the defect; the spec model is then re-synchronised to the DUT's path, so each occurrence is reported once, with no cascade.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+MODEL=dut: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bench becomes a regression bench for the delivered RTL and fails only on NEW behaviour.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on the delivered RTL: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 spec violations, 0 unexplained.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0B1E33"/>
          </a:solidFill>
          <a:ln w="12700">
            <a:solidFill>
              <a:srgbClr val="0B1E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0x07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329184"/>
            <a:ext cx="100885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independent oracles, three independent models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Aligner Verification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78308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783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 model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377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byte, every cycle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278892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cycle-accurate compare of frame_detect and fr_byte_position against R1-R7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97680" y="155448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26280" y="1783080"/>
            <a:ext cx="457200" cy="4572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262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120640" y="1783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Checkpoints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4526280" y="2377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3,555 expected outcomes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26280" y="278892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plan's "expected outcome" column, checked at the exact byte (e.g. "aligned after 47 header-less bytes, lost on the 48th")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46720" y="155448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75320" y="1783080"/>
            <a:ext cx="457200" cy="45720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7532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869680" y="1783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Assertions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8275320" y="2377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black-box + 11 white-box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275320" y="278892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rules on the ports; FSM and counter checks inside the DUT catch latent defects the ports never show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4297680"/>
            <a:ext cx="11064240" cy="1874520"/>
          </a:xfrm>
          <a:prstGeom prst="roundRect">
            <a:avLst>
              <a:gd name="adj" fmla="val 3902"/>
            </a:avLst>
          </a:prstGeom>
          <a:solidFill>
            <a:srgbClr val="0B1E33"/>
          </a:solidFill>
          <a:ln w="12700">
            <a:solidFill>
              <a:srgbClr val="0B1E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43891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Differential fuzzing (scripts/fuzz_rtl.py): 6 000 streams, 910 k cycles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" y="484632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RTL = SV spec model = Python causal model = independent frame parser: </a:t>
            </a:r>
            <a:pPr indent="0" marL="0"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differences</a:t>
            </a:r>
            <a:endParaRPr lang="en-US" sz="14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RTL = bug-emulating model: </a:t>
            </a:r>
            <a:pPr indent="0" marL="0"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differences</a:t>
            </a:r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(every deviation is DUT-01, 02 or 03)</a:t>
            </a:r>
            <a:endParaRPr lang="en-US" sz="14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RTL vs. specification: </a:t>
            </a:r>
            <a:pPr indent="0" marL="0"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13 % of all cycles wrong</a:t>
            </a:r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stress traffic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0B1E33"/>
          </a:solidFill>
          <a:ln w="12700">
            <a:solidFill>
              <a:srgbClr val="0B1E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0x08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329184"/>
            <a:ext cx="100885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plan (1/2)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005840"/>
            <a:ext cx="100885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scenario starts from reset and checks its expected outcome at exact bytes (checkpoints)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Aligner Verification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148840"/>
                <a:gridCol w="3840480"/>
                <a:gridCol w="3246120"/>
                <a:gridCol w="11887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+TEST=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Stimulus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(spec)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Exposes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spec_suggested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5xHEAD_1, 4 illegal, 5xHEAD_2 (spec p.23)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aligned on frame 3; lost on the 48th byte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mixed_headers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HEAD_1 / HEAD_2 in any mix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aligned after 3 frames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swapped_header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 AA / BA 55; 4 of them while aligned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aligns; loss on the 48th byte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DUT-03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inverted_header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bit-inverted and bit-reversed headers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aligns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DUT-03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lsb_ok_msb_bad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 01, 55 01, AA 00, 55 00, AA BA, 55 AF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 0 after the rejected MSB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DUT-03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TP06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lsb_bad_msb_ok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0A AF, 05 BA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 0, never aligns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TP07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msb_in_payload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 / BA bytes inside payloads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 boundaries unchanged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TP08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header_in_payload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headers at every payload offset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ignored (R3)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TP09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restart_header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AA|AA AF, 55|55 BA, AA|55 BA, 55|AA AF, ...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header found; aligned after 3 frames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DUT-01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loss_boundary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aligned, 44..48 header-less bytes, header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kept for &lt;= 46, lost for &gt;= 47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DUT-02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TP11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corrupted_frames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aligned, 1..4 corrupted frames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kept for &lt;= 3, lost on byte 48 for 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DUT-03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header_in_illegal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legacy illegal frames with inner headers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 at the inner header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TP13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frames_in_illegal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frames inside a 49-byte illegal frame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aligned exactly on byte 29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TP14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header_soup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49-byte frames of random header bytes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model-checked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DUT-01/03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0B1E33"/>
          </a:solidFill>
          <a:ln w="12700">
            <a:solidFill>
              <a:srgbClr val="0B1E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0x08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329184"/>
            <a:ext cx="100885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plan (2/2)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005840"/>
            <a:ext cx="100885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scenario starts from reset and checks its expected outcome at exact bytes (checkpoints)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Aligner Verification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148840"/>
                <a:gridCol w="3840480"/>
                <a:gridCol w="3246120"/>
                <a:gridCol w="11887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+TEST=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Stimulus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(spec)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Exposes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lsb_at_payload_end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payload ends in AA / 55 / AA AF (aligned)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 header found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long_valid_run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consecutive frames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aligned; counter saturates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DUT-04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TP17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long_garbage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 header-less bytes, re-align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lost on 48; counter saturates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DUT-05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reset_every_phase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 reset in each phase, aligned or not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outputs 0; no header across reset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TP19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false_lock_in_sync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corrupted header + header pattern in payload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locks on the false frame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DUT-07 demo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consecutive_rule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V, 1 byte, V, V, 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aligned only after frame 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header_across_items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 AA | AF ... across two items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recognised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illegal_lengths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illegal frames of 2..49 bytes (aligned)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lost on exactly the 48th byte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boundary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sweep 0..60 header-less bytes, +/- stray LSB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kept iff gap + prefix &lt;= 46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DUT-01/02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loss_cause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48th byte = rejected MSB / restart LSB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lost on that byte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DUT-01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midstream_entry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mid-stream; payloads end in 55 / AA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aligned after 3 frames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DUT-01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error_then_lsb_payloads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header error, then payloads ending in 55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alignment kept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DUT-01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TP27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slip_in_sync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13-byte frames before / after alignment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hunting keeps alignment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DUT-07 demo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random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61 % valid, 18 % illegal, 8 % restart, 12 % gap, 2 % reset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+ assertions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0B1E33"/>
          </a:solidFill>
          <a:ln w="12700">
            <a:solidFill>
              <a:srgbClr val="0B1E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0x09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329184"/>
            <a:ext cx="100885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Spec-feature coverage and assertion results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005840"/>
            <a:ext cx="100885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is sampled from the reference model, so it measures behaviour, not raw signal values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Aligner Verification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636776"/>
            <a:ext cx="1417320" cy="402336"/>
          </a:xfrm>
          <a:prstGeom prst="roundRect">
            <a:avLst>
              <a:gd name="adj" fmla="val 13636"/>
            </a:avLst>
          </a:prstGeom>
          <a:solidFill>
            <a:srgbClr val="DDE7FB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63677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CP02 / CP03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103120" y="160020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transition (hunt, LSB, reject, restart, frame) x aligned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185416"/>
            <a:ext cx="1417320" cy="402336"/>
          </a:xfrm>
          <a:prstGeom prst="roundRect">
            <a:avLst>
              <a:gd name="adj" fmla="val 13636"/>
            </a:avLst>
          </a:prstGeom>
          <a:solidFill>
            <a:srgbClr val="DDE7FB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18541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CP06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103120" y="214884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byte that can follow a header LSB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2734056"/>
            <a:ext cx="1417320" cy="402336"/>
          </a:xfrm>
          <a:prstGeom prst="roundRect">
            <a:avLst>
              <a:gd name="adj" fmla="val 13636"/>
            </a:avLst>
          </a:prstGeom>
          <a:solidFill>
            <a:srgbClr val="DDE7FB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273405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CP07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103120" y="269748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before a header while aligned: 0 .. 44, 45, 46 (last chance)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282696"/>
            <a:ext cx="1417320" cy="402336"/>
          </a:xfrm>
          <a:prstGeom prst="roundRect">
            <a:avLst>
              <a:gd name="adj" fmla="val 13636"/>
            </a:avLst>
          </a:prstGeom>
          <a:solidFill>
            <a:srgbClr val="DDE7FB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328269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CP08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103120" y="324612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kind of 48th byte: plain, LSB, rejected MSB, restart LSB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31336"/>
            <a:ext cx="1417320" cy="402336"/>
          </a:xfrm>
          <a:prstGeom prst="roundRect">
            <a:avLst>
              <a:gd name="adj" fmla="val 13636"/>
            </a:avLst>
          </a:prstGeom>
          <a:solidFill>
            <a:srgbClr val="DDE7FB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383133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CP09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103120" y="379476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fr_byte_position 0..11 x frame_detect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379976"/>
            <a:ext cx="1417320" cy="402336"/>
          </a:xfrm>
          <a:prstGeom prst="roundRect">
            <a:avLst>
              <a:gd name="adj" fmla="val 13636"/>
            </a:avLst>
          </a:prstGeom>
          <a:solidFill>
            <a:srgbClr val="DDE7FB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437997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CP11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2103120" y="434340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 reset in every phase, aligned or not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4928616"/>
            <a:ext cx="1417320" cy="402336"/>
          </a:xfrm>
          <a:prstGeom prst="roundRect">
            <a:avLst>
              <a:gd name="adj" fmla="val 13636"/>
            </a:avLst>
          </a:prstGeom>
          <a:solidFill>
            <a:srgbClr val="DDE7FB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" y="492861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CP12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2103120" y="489204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patterns inside payloads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5486400"/>
            <a:ext cx="5760720" cy="731520"/>
          </a:xfrm>
          <a:prstGeom prst="roundRect">
            <a:avLst>
              <a:gd name="adj" fmla="val 10000"/>
            </a:avLst>
          </a:prstGeom>
          <a:solidFill>
            <a:srgbClr val="DDE7FB"/>
          </a:solidFill>
          <a:ln w="12700">
            <a:solidFill>
              <a:srgbClr val="DDE7F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31520" y="54864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14 coverpoints (102 bins) in the regression; every cover property hit</a:t>
            </a:r>
            <a:endParaRPr lang="en-US" sz="2400" dirty="0"/>
          </a:p>
        </p:txBody>
      </p:sp>
      <p:graphicFrame>
        <p:nvGraphicFramePr>
          <p:cNvPr id="31" name="Chart 0" descr=""/>
          <p:cNvGraphicFramePr/>
          <p:nvPr/>
        </p:nvGraphicFramePr>
        <p:xfrm>
          <a:off x="6583680" y="1463040"/>
          <a:ext cx="502920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144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DUT defects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28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student's scoreboard mirrored the RTL, so these were either unseen or filed as "gaps in the spec".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16304F"/>
          </a:solidFill>
          <a:ln w="19050">
            <a:solidFill>
              <a:srgbClr val="C2410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74320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DUT-01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874520" y="26974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LSB lost: legal streams never align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30358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566160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16304F"/>
          </a:solidFill>
          <a:ln w="19050">
            <a:solidFill>
              <a:srgbClr val="C2410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56616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DUT-02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874520" y="35204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dropped on a valid header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874520" y="38587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389120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16304F"/>
          </a:solidFill>
          <a:ln w="19050">
            <a:solidFill>
              <a:srgbClr val="C2410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38912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DUT-07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874520" y="4343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fly-wheel: slips never lose alignment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874520" y="46817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(arch.)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212080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16304F"/>
          </a:solidFill>
          <a:ln w="19050">
            <a:solidFill>
              <a:srgbClr val="F2A9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21208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DUT-03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874520" y="51663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1 reported for a rejected header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874520" y="55046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2743200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16304F"/>
          </a:solidFill>
          <a:ln w="19050">
            <a:solidFill>
              <a:srgbClr val="8FA3B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0" y="274320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DUT-04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543800" y="26974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counter wraps 3 -&gt; 0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543800" y="30358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(latent)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3566160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16304F"/>
          </a:solidFill>
          <a:ln w="19050">
            <a:solidFill>
              <a:srgbClr val="8FA3B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17920" y="356616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DUT-05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543800" y="35204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 counter wraps 63 -&gt; 0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543800" y="38587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(latent)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17920" y="4389120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16304F"/>
          </a:solidFill>
          <a:ln w="19050">
            <a:solidFill>
              <a:srgbClr val="8FA3B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17920" y="438912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DUT-08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543800" y="4343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X-optimistic header decode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7543800" y="46817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17920" y="5212080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16304F"/>
          </a:solidFill>
          <a:ln w="19050">
            <a:solidFill>
              <a:srgbClr val="8FA3B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217920" y="521208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DUT-06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7543800" y="51663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issues (default, width, comments)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7543800" y="55046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Aligner Verification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0B1E33"/>
          </a:solidFill>
          <a:ln w="12700">
            <a:solidFill>
              <a:srgbClr val="0B1E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DUT-01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329184"/>
            <a:ext cx="100885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Header LSB thrown away after a rejected MSB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005840"/>
            <a:ext cx="100885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 ·  extends the student's "LSB twice then MSB": it happens for all four LSB combinations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Aligner Verification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8" name="Image 0" descr="/home/user/Frame-Aligner-verification/docs/images/slide_dut01_rest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3015" y="1463040"/>
            <a:ext cx="8415490" cy="30175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4663440"/>
            <a:ext cx="4206240" cy="1554480"/>
          </a:xfrm>
          <a:prstGeom prst="roundRect">
            <a:avLst>
              <a:gd name="adj" fmla="val 4706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47365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 cause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507492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FR_HLSB a wrong MSB always returns to FR_IDLE. If that byte is itself a header LSB (AA / 55) it is never examined, so its header is missed.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937760" y="4663440"/>
            <a:ext cx="6675120" cy="1554480"/>
          </a:xfrm>
          <a:prstGeom prst="roundRect">
            <a:avLst>
              <a:gd name="adj" fmla="val 4706"/>
            </a:avLst>
          </a:prstGeom>
          <a:solidFill>
            <a:srgbClr val="0B1E33"/>
          </a:solidFill>
          <a:ln w="12700">
            <a:solidFill>
              <a:srgbClr val="0B1E3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120640" y="470916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else if (header_lsb_valid) begin  // FIX DUT-01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legal_frame_counter_rst = 1'b1;  fr_byte_position_rst = 1'b1;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na_byte_count_inc       = 1'b1;  next_state = FR_HLSB;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0B1E33"/>
          </a:solidFill>
          <a:ln w="12700">
            <a:solidFill>
              <a:srgbClr val="0B1E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DUT-01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329184"/>
            <a:ext cx="100885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 traffic is never aligned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005840"/>
            <a:ext cx="100885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byte 9 = 0x55 (or 0xAA) looks like a header LSB; the real LSB rejects it and is thrown away, for every frame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Aligner Verification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pic>
        <p:nvPicPr>
          <p:cNvPr id="8" name="Image 0" descr="/home/user/Frame-Aligner-verification/docs/images/slide_dut01_midstre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52221"/>
            <a:ext cx="11064240" cy="2959197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4892040"/>
            <a:ext cx="3520440" cy="1325880"/>
          </a:xfrm>
          <a:prstGeom prst="roundRect">
            <a:avLst>
              <a:gd name="adj" fmla="val 5517"/>
            </a:avLst>
          </a:prstGeom>
          <a:solidFill>
            <a:srgbClr val="FBE4D8"/>
          </a:solidFill>
          <a:ln w="12700">
            <a:solidFill>
              <a:srgbClr val="FBE4D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49377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54406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aligned: start-up in the middle of a legal stream whose payloads end in 0x55 (TP25: 20 of 20 checkpoints fail)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297680" y="4892040"/>
            <a:ext cx="3520440" cy="1325880"/>
          </a:xfrm>
          <a:prstGeom prst="roundRect">
            <a:avLst>
              <a:gd name="adj" fmla="val 5517"/>
            </a:avLst>
          </a:prstGeom>
          <a:solidFill>
            <a:srgbClr val="FBE4D8"/>
          </a:solidFill>
          <a:ln w="12700">
            <a:solidFill>
              <a:srgbClr val="FBE4D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480560" y="49377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permanent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4480560" y="54406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after one bit error in a header, if the following payloads end in 0x55 (TP26)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046720" y="4892040"/>
            <a:ext cx="3520440" cy="1325880"/>
          </a:xfrm>
          <a:prstGeom prst="roundRect">
            <a:avLst>
              <a:gd name="adj" fmla="val 5517"/>
            </a:avLst>
          </a:prstGeom>
          <a:solidFill>
            <a:srgbClr val="FBE4D8"/>
          </a:solidFill>
          <a:ln w="12700">
            <a:solidFill>
              <a:srgbClr val="FBE4D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29600" y="49377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128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0" y="54406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 per bad frame of losing alignment after only 3 bad frames (random payload)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0B1E33"/>
          </a:solidFill>
          <a:ln w="12700">
            <a:solidFill>
              <a:srgbClr val="0B1E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DUT-02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329184"/>
            <a:ext cx="100885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Alignment dropped on a valid header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005840"/>
            <a:ext cx="100885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 ·  the student saw "last chance is a header at byte 45" and filed it as a spec gap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Aligner Verification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pic>
        <p:nvPicPr>
          <p:cNvPr id="8" name="Image 0" descr="/home/user/Frame-Aligner-verification/docs/images/slide_dut02_sync_d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00079"/>
            <a:ext cx="6766560" cy="3457843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589520" y="1508760"/>
            <a:ext cx="4023360" cy="2743200"/>
          </a:xfrm>
          <a:prstGeom prst="roundRect">
            <a:avLst>
              <a:gd name="adj" fmla="val 2667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 cause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772400" y="201168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header LSB is counted as a non-aligned byte (46 -&gt; 47)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clear (na_byte_counter == 47) is not qualified: the valid MSB clears frame_detect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valid frame is received with frame_detect = 0; outage lasts 3 frames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4434840"/>
          <a:ext cx="40233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280160"/>
                <a:gridCol w="164592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delivered RTL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&lt;= 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&gt;= 47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548640" y="553212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45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Fix: clear only when the consumed byte is itself counted:  na_byte_count_inc &amp;&amp; na_byte_counter == 47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0B1E33"/>
          </a:solidFill>
          <a:ln w="12700">
            <a:solidFill>
              <a:srgbClr val="0B1E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DUT-03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329184"/>
            <a:ext cx="100885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 reported for a rejected header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005840"/>
            <a:ext cx="100885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 ·  the student noted the one-cycle "1" and filed it as a spec gap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Aligner Verification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pic>
        <p:nvPicPr>
          <p:cNvPr id="8" name="Image 0" descr="/home/user/Frame-Aligner-verification/docs/images/slide_dut03_p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1943"/>
            <a:ext cx="6949440" cy="357411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0" y="1463040"/>
            <a:ext cx="3840480" cy="3931920"/>
          </a:xfrm>
          <a:prstGeom prst="roundRect">
            <a:avLst>
              <a:gd name="adj" fmla="val 1905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955280" y="1554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955280" y="2011680"/>
            <a:ext cx="3474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AA 01 the output says "header MSB" (position 1) although no frame exists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hunting byte reports 0, so a consumer sees a phantom header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FSM slide omits the position reset on the HLSB -&gt; IDLE arc too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4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fr_byte_position_rst = 1 on the reject arc.   Caught by SPEC_POS1_AFTER_HEADER, SPEC_POS_INCREMENT and WB_DUT03_POS_RESET_ON_REJECT.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0B1E33"/>
          </a:solidFill>
          <a:ln w="12700">
            <a:solidFill>
              <a:srgbClr val="0B1E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DUT-04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329184"/>
            <a:ext cx="100885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Latent and hygiene defects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005840"/>
            <a:ext cx="100885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on the ports today; caught at the root cause by white-box assertions and lint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Aligner Verification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pic>
        <p:nvPicPr>
          <p:cNvPr id="8" name="Image 0" descr="/home/user/Frame-Aligner-verification/docs/images/slide_dut04_count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6104" y="1463040"/>
            <a:ext cx="8389312" cy="28346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4480560"/>
            <a:ext cx="5440680" cy="786384"/>
          </a:xfrm>
          <a:prstGeom prst="roundRect">
            <a:avLst>
              <a:gd name="adj" fmla="val 9302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85800" y="4654296"/>
            <a:ext cx="10058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5B6B7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4654296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DUT-04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828800" y="4507992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legal_frame_counter wraps 3 -&gt; 0 on the 4th frame (above). Caught by WB_DUT04_LEGAL_NO_WRAP. Fix: saturate.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72200" y="4480560"/>
            <a:ext cx="5440680" cy="786384"/>
          </a:xfrm>
          <a:prstGeom prst="roundRect">
            <a:avLst>
              <a:gd name="adj" fmla="val 9302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309360" y="4654296"/>
            <a:ext cx="10058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5B6B7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309360" y="4654296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DUT-05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7452360" y="4507992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na_byte_counter wraps 63 -&gt; 0 on long header-less streams. Caught by WB_DUT05_NA_NO_WRAP. Fix: saturate.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5376672"/>
            <a:ext cx="5440680" cy="786384"/>
          </a:xfrm>
          <a:prstGeom prst="roundRect">
            <a:avLst>
              <a:gd name="adj" fmla="val 9302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85800" y="5550408"/>
            <a:ext cx="10058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5B6B7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" y="555040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DUT-06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828800" y="5404104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next_state default; 4-bit vs 8'd10 compare; wrong comments. The corrected RTL is verilator -Wall clean.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172200" y="5376672"/>
            <a:ext cx="5440680" cy="786384"/>
          </a:xfrm>
          <a:prstGeom prst="roundRect">
            <a:avLst>
              <a:gd name="adj" fmla="val 9302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309360" y="5550408"/>
            <a:ext cx="10058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5B6B7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309360" y="555040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DUT-08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7452360" y="5404104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on rx_data is silently decoded as "not a header" in RTL, but not in gates. TB_IN_KNOWN forbids X stimulus.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0B1E33"/>
          </a:solidFill>
          <a:ln w="12700">
            <a:solidFill>
              <a:srgbClr val="0B1E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DUT-07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329184"/>
            <a:ext cx="100885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fly-wheel: slips never lose alignment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005840"/>
            <a:ext cx="100885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(architecture)  ·  spec text: out of alignment after four frames without the EXPECTED header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Aligner Verification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pic>
        <p:nvPicPr>
          <p:cNvPr id="8" name="Image 0" descr="/home/user/Frame-Aligner-verification/docs/images/slide_dut07_sl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52221"/>
            <a:ext cx="11064240" cy="295919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484632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13-byte frames: 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header one byte late, and frame_detect stays 1 forever. The same stream never aligns from reset (hysteresis).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stops: 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one bad header, fr_byte_position is 0 for a whole frame while frame_detect = 1; a header pattern in a payload re-bases the frame (false lock).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fix: 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aligned, count 0..11 freely, check headers only at the expected position, and declare out-of-frame after 4 bad frames. Hunt byte by byte only while not aligned.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0B1E33"/>
          </a:solidFill>
          <a:ln w="12700">
            <a:solidFill>
              <a:srgbClr val="0B1E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0x0A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329184"/>
            <a:ext cx="100885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Issues in the specification itself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005840"/>
            <a:ext cx="100885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clarified with the designer; each affects what "correct" means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Aligner Verification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783080"/>
            <a:ext cx="1188720" cy="420624"/>
          </a:xfrm>
          <a:prstGeom prst="roundRect">
            <a:avLst>
              <a:gd name="adj" fmla="val 13043"/>
            </a:avLst>
          </a:prstGeom>
          <a:solidFill>
            <a:srgbClr val="FDF1CC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178308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SPEC-01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258568"/>
            <a:ext cx="5074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data interface (header + payload forwarding) is specified but not implemented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160020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55080" y="1783080"/>
            <a:ext cx="1188720" cy="420624"/>
          </a:xfrm>
          <a:prstGeom prst="roundRect">
            <a:avLst>
              <a:gd name="adj" fmla="val 13043"/>
            </a:avLst>
          </a:prstGeom>
          <a:solidFill>
            <a:srgbClr val="FDF1CC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55080" y="178308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SPEC-02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2258568"/>
            <a:ext cx="5074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Text: loss after 4 frames without the expected header. Design slides: 48 hunting bytes. Leads to DUT-07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5468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3337560"/>
            <a:ext cx="1188720" cy="420624"/>
          </a:xfrm>
          <a:prstGeom prst="roundRect">
            <a:avLst>
              <a:gd name="adj" fmla="val 13043"/>
            </a:avLst>
          </a:prstGeom>
          <a:solidFill>
            <a:srgbClr val="FDF1CC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333756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SPEC-03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3813048"/>
            <a:ext cx="5074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Waveform 2 is one clock late against the FSM slide and the RTL; waveform 1 starts in an unreachable state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72200" y="315468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55080" y="3337560"/>
            <a:ext cx="1188720" cy="420624"/>
          </a:xfrm>
          <a:prstGeom prst="roundRect">
            <a:avLst>
              <a:gd name="adj" fmla="val 13043"/>
            </a:avLst>
          </a:prstGeom>
          <a:solidFill>
            <a:srgbClr val="FDF1CC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55080" y="333756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SPEC-04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3813048"/>
            <a:ext cx="5074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fr_byte_position is undefined outside a frame and has no valid qualifier (0 = LSB and 0 = not aligned)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70916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4892040"/>
            <a:ext cx="1188720" cy="420624"/>
          </a:xfrm>
          <a:prstGeom prst="roundRect">
            <a:avLst>
              <a:gd name="adj" fmla="val 13043"/>
            </a:avLst>
          </a:prstGeom>
          <a:solidFill>
            <a:srgbClr val="FDF1CC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" y="489204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SPEC-05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5367528"/>
            <a:ext cx="5074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mismatches: fr_is_aligned / frame_detect, na_frame_counter / na_byte_counter, Valid_h2 missing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172200" y="470916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55080" y="4892040"/>
            <a:ext cx="1188720" cy="420624"/>
          </a:xfrm>
          <a:prstGeom prst="roundRect">
            <a:avLst>
              <a:gd name="adj" fmla="val 13043"/>
            </a:avLst>
          </a:prstGeom>
          <a:solidFill>
            <a:srgbClr val="FDF1CC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355080" y="489204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SPEC-06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355080" y="5367528"/>
            <a:ext cx="5074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48th header-less byte is a header LSB: counted (register table) or not (look-ahead)? The RTL violates both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0B1E33"/>
          </a:solidFill>
          <a:ln w="12700">
            <a:solidFill>
              <a:srgbClr val="0B1E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0x0B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329184"/>
            <a:ext cx="100885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Defects in the original testbench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005840"/>
            <a:ext cx="100885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original run looked clean although the design is not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Aligner Verification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BE4D8"/>
          </a:solidFill>
          <a:ln w="12700">
            <a:solidFill>
              <a:srgbClr val="FBE4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6459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12.8 %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2860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queued stimulus never driven (117 of 917 items): end of test compared transactions with repeat_count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97680" y="155448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BE4D8"/>
          </a:solidFill>
          <a:ln w="12700">
            <a:solidFill>
              <a:srgbClr val="FBE4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80560" y="16459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byte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22860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early: the "copied" model sets and clears frame_detect one byte before the RTL, so no clean run was possible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155448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BE4D8"/>
          </a:solidFill>
          <a:ln w="12700">
            <a:solidFill>
              <a:srgbClr val="FBE4D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0" y="16459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102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22860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assertion failures per run from one legacy property; the other two are vacuous or always fail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712464"/>
            <a:ext cx="96012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3712464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TB-01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645920" y="3657600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copied from the RTL; mismatches fixed in the scoreboard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72200" y="3712464"/>
            <a:ext cx="96012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72200" y="3712464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TB-04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269480" y="3657600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directed tests drive X (new[N] on a 4-state array, 8'hxA)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352544"/>
            <a:ext cx="96012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4352544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TB-05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645920" y="4297680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shuffled: preconditions not met, tests spill into the next one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72200" y="4352544"/>
            <a:ext cx="96012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172200" y="4352544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TB-07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269480" y="4297680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 reachable illegal bins, unreachable bins, no spec features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4992624"/>
            <a:ext cx="96012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4992624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TB-08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645920" y="4937760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depends on program-block scheduling; reset on a clock edge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172200" y="4992624"/>
            <a:ext cx="96012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172200" y="4992624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TB-09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7269480" y="4937760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2-state scoreboard turns X/Z into 0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48640" y="5632704"/>
            <a:ext cx="96012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48640" y="5632704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TB-10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1645920" y="5577840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order wrong; bind by instance name not elaborated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172200" y="5632704"/>
            <a:ext cx="96012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172200" y="5632704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TB-11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7269480" y="5577840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out-of-bounds writes, misleading "illegal" frames, no seed control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0B1E33"/>
          </a:solidFill>
          <a:ln w="12700">
            <a:solidFill>
              <a:srgbClr val="0B1E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0x0C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329184"/>
            <a:ext cx="100885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 results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005840"/>
            <a:ext cx="100885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-C sim regress: every run is checked against its EXPECTED outcome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Aligner Verification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667512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1188720"/>
                <a:gridCol w="685800"/>
                <a:gridCol w="822960"/>
                <a:gridCol w="1143000"/>
                <a:gridCol w="731520"/>
                <a:gridCol w="114300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checkpoints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4,300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995 / 995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boundary sweep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9,701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2,560 / 2,560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6,485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20,985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3,555 / 3,555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PASS, cov 100.0 %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20,985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tolerated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(no new behaviour)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20,985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3,341 / 3,555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FAIL, 0 unexplained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9" name="Chart 0" descr=""/>
          <p:cNvGraphicFramePr/>
          <p:nvPr/>
        </p:nvGraphicFramePr>
        <p:xfrm>
          <a:off x="7498080" y="1463040"/>
          <a:ext cx="41148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48640" y="484632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untouched: hash of the annotated DUT = hash of the delivered dut.sv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corrected RTL is verilator -Wall clean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fuzzing: 0 differences between the corrected RTL and the three specification models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6675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8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is not bug-free.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header search can miss every header of a legal stream (DUT-01) and drops alignment on a valid header (DUT-02).</a:t>
            </a:r>
            <a:endParaRPr lang="en-US" sz="18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8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scoreboard that copies the RTL cannot find design bugs.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 model with defect triage found all of them, with 0 unexplained mismatches.</a:t>
            </a:r>
            <a:endParaRPr lang="en-US" sz="18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8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 must be executable.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3,555 checkpoints turn the test plan into checks.</a:t>
            </a:r>
            <a:endParaRPr lang="en-US" sz="18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8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Evidence, not assumption.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independent models agree; the corrected RTL passes everything.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680960" y="1645920"/>
            <a:ext cx="3931920" cy="4206240"/>
          </a:xfrm>
          <a:prstGeom prst="roundRect">
            <a:avLst>
              <a:gd name="adj" fmla="val 1860"/>
            </a:avLst>
          </a:prstGeom>
          <a:solidFill>
            <a:srgbClr val="16304F"/>
          </a:solidFill>
          <a:ln w="12700">
            <a:solidFill>
              <a:srgbClr val="1630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909560" y="17830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909560" y="2377440"/>
            <a:ext cx="35661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to accept DUT-01..06 fixes (rtl/frame_aligner_fixed.sv)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on the fly-wheel (DUT-07) and resolve SPEC-02/-06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output data interface (SPEC-01)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bench on a commercial simulator to merge native covergroups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proof of R1-R7 on the corrected RTL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Aligner Verification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0B1E33"/>
          </a:solidFill>
          <a:ln w="12700">
            <a:solidFill>
              <a:srgbClr val="0B1E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0x0D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329184"/>
            <a:ext cx="100885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Appendix: how to run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005840"/>
            <a:ext cx="100885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Verilator &gt;= 5.030 with z3; Python 3; Icarus Verilog for scripts/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Aligner Verification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11064240" cy="3108960"/>
          </a:xfrm>
          <a:prstGeom prst="roundRect">
            <a:avLst>
              <a:gd name="adj" fmla="val 2353"/>
            </a:avLst>
          </a:prstGeom>
          <a:solidFill>
            <a:srgbClr val="0B1E33"/>
          </a:solidFill>
          <a:ln w="12700">
            <a:solidFill>
              <a:srgbClr val="0B1E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737360"/>
            <a:ext cx="10607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sim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sim DUT=fixed                        # corrected RTL          -&gt; TEST PASSED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sim DUT=orig                         # delivered RTL          -&gt; TEST FAILED, defects listed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sim DUT=orig MODEL=dut               # regression mode        -&gt; only new behaviour fails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sim DUT=orig TEST=restart_header VERBOSITY=2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sim DUT=orig TEST=loss_boundary WAVES=1   # waves.vcd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regress                              # full matrix, expected outcomes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../scripts/fuzz_rtl.py            # differential fuzzing (Icarus)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../scripts/plot_waves.py          # regenerate the figures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029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Documents: docs/BUG_REPORT.md (every defect, reproduction, fix) · docs/VERIFICATION_PLAN.md (rules, test plan, coverage, assertions, results)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Frame Aligner Verification</dc:title>
  <dc:subject>PptxGenJS Presentation</dc:subject>
  <dc:creator>Yakir Aqua</dc:creator>
  <cp:lastModifiedBy>Yakir Aqua</cp:lastModifiedBy>
  <cp:revision>1</cp:revision>
  <dcterms:created xsi:type="dcterms:W3CDTF">2026-09-25T10:29:13Z</dcterms:created>
  <dcterms:modified xsi:type="dcterms:W3CDTF">2026-09-25T10:29:13Z</dcterms:modified>
</cp:coreProperties>
</file>